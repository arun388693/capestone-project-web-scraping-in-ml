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3" r:id="rId11"/>
    <p:sldId id="265" r:id="rId12"/>
    <p:sldId id="268" r:id="rId13"/>
    <p:sldId id="269" r:id="rId14"/>
    <p:sldId id="270" r:id="rId15"/>
    <p:sldId id="266" r:id="rId16"/>
    <p:sldId id="267" r:id="rId17"/>
    <p:sldId id="271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46100" y="-4763"/>
            <a:ext cx="5014912" cy="6862763"/>
            <a:chOff x="2928938" y="-4763"/>
            <a:chExt cx="5014912" cy="6862763"/>
          </a:xfrm>
        </p:grpSpPr>
        <p:sp>
          <p:nvSpPr>
            <p:cNvPr id="22" name="Freeform 6"/>
            <p:cNvSpPr/>
            <p:nvPr/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Freeform 7"/>
            <p:cNvSpPr/>
            <p:nvPr/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24" name="Freeform 9"/>
            <p:cNvSpPr/>
            <p:nvPr/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5" name="Freeform 10"/>
            <p:cNvSpPr/>
            <p:nvPr/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6" name="Freeform 11"/>
            <p:cNvSpPr/>
            <p:nvPr/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7" name="Freeform 12"/>
            <p:cNvSpPr/>
            <p:nvPr/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28401" y="1380068"/>
            <a:ext cx="8574622" cy="2616199"/>
          </a:xfrm>
        </p:spPr>
        <p:txBody>
          <a:bodyPr anchor="b">
            <a:normAutofit/>
          </a:bodyPr>
          <a:lstStyle>
            <a:lvl1pPr algn="r">
              <a:defRPr sz="60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15377" y="3996267"/>
            <a:ext cx="6987645" cy="1388534"/>
          </a:xfrm>
        </p:spPr>
        <p:txBody>
          <a:bodyPr anchor="t">
            <a:normAutofit/>
          </a:bodyPr>
          <a:lstStyle>
            <a:lvl1pPr marL="0" indent="0" algn="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83371-4A24-4A92-8DAE-352054B7F25A}" type="datetimeFigureOut">
              <a:rPr lang="en-IN" smtClean="0"/>
              <a:t>01-02-2026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32412" y="5883275"/>
            <a:ext cx="4324044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B16B7F-9391-430C-B015-5F372E74523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434371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83371-4A24-4A92-8DAE-352054B7F25A}" type="datetimeFigureOut">
              <a:rPr lang="en-IN" smtClean="0"/>
              <a:t>01-02-2026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951856" y="5867131"/>
            <a:ext cx="551167" cy="365125"/>
          </a:xfrm>
        </p:spPr>
        <p:txBody>
          <a:bodyPr/>
          <a:lstStyle/>
          <a:p>
            <a:fld id="{1BB16B7F-9391-430C-B015-5F372E74523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11242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2279" y="2666999"/>
            <a:ext cx="8930747" cy="2110382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2278" y="4777381"/>
            <a:ext cx="8930748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83371-4A24-4A92-8DAE-352054B7F25A}" type="datetimeFigureOut">
              <a:rPr lang="en-IN" smtClean="0"/>
              <a:t>01-02-2026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B16B7F-9391-430C-B015-5F372E74523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057906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312" y="2666999"/>
            <a:ext cx="4895055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07967" y="2667000"/>
            <a:ext cx="4895056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83371-4A24-4A92-8DAE-352054B7F25A}" type="datetimeFigureOut">
              <a:rPr lang="en-IN" smtClean="0"/>
              <a:t>01-02-2026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B16B7F-9391-430C-B015-5F372E74523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829797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2179" y="2658533"/>
            <a:ext cx="4607188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4311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80487" y="2667000"/>
            <a:ext cx="462253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7967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83371-4A24-4A92-8DAE-352054B7F25A}" type="datetimeFigureOut">
              <a:rPr lang="en-IN" smtClean="0"/>
              <a:t>01-02-2026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B16B7F-9391-430C-B015-5F372E74523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357098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83371-4A24-4A92-8DAE-352054B7F25A}" type="datetimeFigureOut">
              <a:rPr lang="en-IN" smtClean="0"/>
              <a:t>01-02-2026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B16B7F-9391-430C-B015-5F372E74523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58735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83371-4A24-4A92-8DAE-352054B7F25A}" type="datetimeFigureOut">
              <a:rPr lang="en-IN" smtClean="0"/>
              <a:t>01-02-2026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B16B7F-9391-430C-B015-5F372E74523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66106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1600200"/>
            <a:ext cx="3549121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62033" y="685799"/>
            <a:ext cx="6240990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2" y="2971800"/>
            <a:ext cx="3549121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83371-4A24-4A92-8DAE-352054B7F25A}" type="datetimeFigureOut">
              <a:rPr lang="en-IN" smtClean="0"/>
              <a:t>01-02-2026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B16B7F-9391-430C-B015-5F372E74523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660743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2724" y="1752599"/>
            <a:ext cx="5426158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94682" y="914400"/>
            <a:ext cx="3280974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2724" y="3124199"/>
            <a:ext cx="5426158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83371-4A24-4A92-8DAE-352054B7F25A}" type="datetimeFigureOut">
              <a:rPr lang="en-IN" smtClean="0"/>
              <a:t>01-02-2026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B16B7F-9391-430C-B015-5F372E74523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56470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4732865"/>
            <a:ext cx="1001871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860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1" y="5299603"/>
            <a:ext cx="1001871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83371-4A24-4A92-8DAE-352054B7F25A}" type="datetimeFigureOut">
              <a:rPr lang="en-IN" smtClean="0"/>
              <a:t>01-02-2026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B16B7F-9391-430C-B015-5F372E74523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871758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685800"/>
            <a:ext cx="1001871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343400"/>
            <a:ext cx="10018713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83371-4A24-4A92-8DAE-352054B7F25A}" type="datetimeFigureOut">
              <a:rPr lang="en-IN" smtClean="0"/>
              <a:t>01-02-2026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B16B7F-9391-430C-B015-5F372E74523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883929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36811" y="3428999"/>
            <a:ext cx="8532815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83371-4A24-4A92-8DAE-352054B7F25A}" type="datetimeFigureOut">
              <a:rPr lang="en-IN" smtClean="0"/>
              <a:t>01-02-2026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B16B7F-9391-430C-B015-5F372E74523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72742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3308581"/>
            <a:ext cx="1001870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7381"/>
            <a:ext cx="1001871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83371-4A24-4A92-8DAE-352054B7F25A}" type="datetimeFigureOut">
              <a:rPr lang="en-IN" smtClean="0"/>
              <a:t>01-02-2026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B16B7F-9391-430C-B015-5F372E74523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6362627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3" y="3886200"/>
            <a:ext cx="1001871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5200"/>
            <a:ext cx="1001871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83371-4A24-4A92-8DAE-352054B7F25A}" type="datetimeFigureOut">
              <a:rPr lang="en-IN" smtClean="0"/>
              <a:t>01-02-2026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B16B7F-9391-430C-B015-5F372E74523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25230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685800"/>
            <a:ext cx="10018712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2" y="3505200"/>
            <a:ext cx="10018713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3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83371-4A24-4A92-8DAE-352054B7F25A}" type="datetimeFigureOut">
              <a:rPr lang="en-IN" smtClean="0"/>
              <a:t>01-02-2026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B16B7F-9391-430C-B015-5F372E74523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883071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83371-4A24-4A92-8DAE-352054B7F25A}" type="datetimeFigureOut">
              <a:rPr lang="en-IN" smtClean="0"/>
              <a:t>01-02-2026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B16B7F-9391-430C-B015-5F372E74523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908006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732655" y="685800"/>
            <a:ext cx="1770369" cy="5105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312" y="685800"/>
            <a:ext cx="8019742" cy="51054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83371-4A24-4A92-8DAE-352054B7F25A}" type="datetimeFigureOut">
              <a:rPr lang="en-IN" smtClean="0"/>
              <a:t>01-02-2026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B16B7F-9391-430C-B015-5F372E74523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86452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0" y="2666999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80B83371-4A24-4A92-8DAE-352054B7F25A}" type="datetimeFigureOut">
              <a:rPr lang="en-IN" smtClean="0"/>
              <a:t>01-02-2026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1BB16B7F-9391-430C-B015-5F372E74523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806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9" r:id="rId1"/>
    <p:sldLayoutId id="2147483750" r:id="rId2"/>
    <p:sldLayoutId id="2147483751" r:id="rId3"/>
    <p:sldLayoutId id="2147483752" r:id="rId4"/>
    <p:sldLayoutId id="2147483753" r:id="rId5"/>
    <p:sldLayoutId id="2147483754" r:id="rId6"/>
    <p:sldLayoutId id="2147483755" r:id="rId7"/>
    <p:sldLayoutId id="2147483756" r:id="rId8"/>
    <p:sldLayoutId id="2147483757" r:id="rId9"/>
    <p:sldLayoutId id="2147483758" r:id="rId10"/>
    <p:sldLayoutId id="2147483759" r:id="rId11"/>
    <p:sldLayoutId id="2147483760" r:id="rId12"/>
    <p:sldLayoutId id="2147483761" r:id="rId13"/>
    <p:sldLayoutId id="2147483762" r:id="rId14"/>
    <p:sldLayoutId id="2147483763" r:id="rId15"/>
    <p:sldLayoutId id="2147483764" r:id="rId16"/>
    <p:sldLayoutId id="2147483765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87B11-7E17-FCE9-4724-D5B44B3BFE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4628" y="0"/>
            <a:ext cx="8574622" cy="2616199"/>
          </a:xfrm>
        </p:spPr>
        <p:txBody>
          <a:bodyPr/>
          <a:lstStyle/>
          <a:p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</a:t>
            </a:r>
            <a:r>
              <a:rPr lang="en-US" sz="6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SCRAPING</a:t>
            </a:r>
            <a:r>
              <a:rPr lang="en-US" sz="6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</a:t>
            </a:r>
            <a:endParaRPr lang="en-IN" sz="4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6959E9-FADF-EE89-B258-32B9AE1AF6F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ARUNKUMAR A</a:t>
            </a:r>
            <a:b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DA/DS 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C05FDA-FC09-8C41-3624-C67058D0258C}"/>
              </a:ext>
            </a:extLst>
          </p:cNvPr>
          <p:cNvSpPr txBox="1"/>
          <p:nvPr/>
        </p:nvSpPr>
        <p:spPr>
          <a:xfrm>
            <a:off x="3780692" y="2798401"/>
            <a:ext cx="758165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r>
              <a:rPr lang="en-US" sz="6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LEARNING</a:t>
            </a:r>
            <a:endParaRPr lang="en-IN" sz="4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36930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19D8D-EFCE-DB2E-427C-E97D3B9F7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br>
              <a:rPr 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DM Sans Bold"/>
                <a:cs typeface="Times New Roman" panose="02020603050405020304" pitchFamily="18" charset="0"/>
                <a:sym typeface="DM Sans Bold"/>
              </a:rPr>
            </a:br>
            <a:r>
              <a:rPr 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DM Sans Bold"/>
                <a:cs typeface="Times New Roman" panose="02020603050405020304" pitchFamily="18" charset="0"/>
                <a:sym typeface="DM Sans Bold"/>
              </a:rPr>
              <a:t>PROJECT OVERVIEW</a:t>
            </a:r>
            <a:br>
              <a:rPr 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DM Sans Bold"/>
                <a:cs typeface="Times New Roman" panose="02020603050405020304" pitchFamily="18" charset="0"/>
                <a:sym typeface="DM Sans Bold"/>
              </a:rPr>
            </a:b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86BCF9-8502-38F3-409E-B75DC80987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focuses on collecting and analyzing product data from an e-commerce website using web scraping techniques.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scraped data is processed, stored in a database, and analyzed to extract meaningful business insights.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final output is visualized using dashboards to support data-driven decision-making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95864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CB77F-6EC1-6CD7-D9A4-DEF02B440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DM Sans Bold"/>
                <a:cs typeface="Times New Roman" panose="02020603050405020304" pitchFamily="18" charset="0"/>
                <a:sym typeface="DM Sans Bold"/>
              </a:rPr>
            </a:br>
            <a:r>
              <a:rPr 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DM Sans Bold"/>
                <a:cs typeface="Times New Roman" panose="02020603050405020304" pitchFamily="18" charset="0"/>
                <a:sym typeface="DM Sans Bold"/>
              </a:rPr>
              <a:t>PROBLEM STATEMENT</a:t>
            </a:r>
            <a:br>
              <a:rPr lang="en-US" b="1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3FA3B7-3C1A-FD6D-A2D7-8D4EBC2FEB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E-commerce platforms generate large volumes of product and customer review data.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Manually analyzing this data is time-consuming and inefficient.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is a need for an automated system to collect, store, analyze, and visualize product information effectively.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70145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6A913-3113-7AD0-25D8-24DB1FE31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855406"/>
            <a:ext cx="9601197" cy="1430594"/>
          </a:xfrm>
        </p:spPr>
        <p:txBody>
          <a:bodyPr>
            <a:normAutofit fontScale="90000"/>
          </a:bodyPr>
          <a:lstStyle/>
          <a:p>
            <a:br>
              <a:rPr lang="en-US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DM Sans Bold"/>
              </a:rPr>
            </a:br>
            <a:r>
              <a:rPr lang="en-US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DM Sans Bold"/>
              </a:rPr>
              <a:t>DATA COLLECTION BY WEB SCRAPING</a:t>
            </a:r>
            <a:br>
              <a:rPr lang="en-US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DM Sans Bold"/>
              </a:rPr>
            </a:br>
            <a:endParaRPr lang="en-IN" dirty="0"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C3CA92-D260-D05E-07B0-D9DB920981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 scraping is used to automatically collect product data from e-commerce websites using Python automation tools. This method helps in gathering large amounts of data quickly and accurately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 website using Selenium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Navigate to product pages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Extract product details (Name, Price, Rating, Reviews)</a:t>
            </a:r>
          </a:p>
          <a:p>
            <a:pPr marL="0" indent="0">
              <a:buNone/>
            </a:pPr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363228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31A4B-9DBF-5D8A-5795-D325145D8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 USED</a:t>
            </a:r>
            <a:endParaRPr lang="en-IN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EBA2BD11-2A47-CCAE-F759-0BFBC68FD6A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465007" y="2537778"/>
            <a:ext cx="9311148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Python – Web scraping and data processing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Selenium – Automated web interaction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Pandas – Data cleaning and analysis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MySQL – Data storage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Power BI – Data visualization and dashboards</a:t>
            </a:r>
          </a:p>
        </p:txBody>
      </p:sp>
    </p:spTree>
    <p:extLst>
      <p:ext uri="{BB962C8B-B14F-4D97-AF65-F5344CB8AC3E}">
        <p14:creationId xmlns:p14="http://schemas.microsoft.com/office/powerpoint/2010/main" val="10799537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E6C0D-0E5B-7E0B-338E-7224EAAF6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6643" y="290383"/>
            <a:ext cx="10018713" cy="1752599"/>
          </a:xfrm>
        </p:spPr>
        <p:txBody>
          <a:bodyPr>
            <a:normAutofit fontScale="90000"/>
          </a:bodyPr>
          <a:lstStyle/>
          <a:p>
            <a:br>
              <a:rPr lang="en-US" b="1" dirty="0">
                <a:latin typeface="Times New Roman" panose="02020603050405020304" pitchFamily="18" charset="0"/>
                <a:ea typeface="DM Sans"/>
                <a:cs typeface="Times New Roman" panose="02020603050405020304" pitchFamily="18" charset="0"/>
                <a:sym typeface="DM Sans"/>
              </a:rPr>
            </a:br>
            <a:r>
              <a:rPr lang="en-US" b="1" dirty="0">
                <a:latin typeface="Times New Roman" panose="02020603050405020304" pitchFamily="18" charset="0"/>
                <a:ea typeface="DM Sans"/>
                <a:cs typeface="Times New Roman" panose="02020603050405020304" pitchFamily="18" charset="0"/>
                <a:sym typeface="DM Sans"/>
              </a:rPr>
              <a:t>DATA CLEANING</a:t>
            </a:r>
            <a:br>
              <a:rPr lang="en-US" dirty="0">
                <a:latin typeface="Times New Roman" panose="02020603050405020304" pitchFamily="18" charset="0"/>
                <a:ea typeface="DM Sans"/>
                <a:cs typeface="Times New Roman" panose="02020603050405020304" pitchFamily="18" charset="0"/>
                <a:sym typeface="DM Sans"/>
              </a:rPr>
            </a:b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61CE05-AD7D-A3DC-CC10-4F8DDACC60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2206" y="1934308"/>
            <a:ext cx="4728036" cy="120867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42B0865-B194-15C3-92AF-E8381CFA70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2342" y="3429000"/>
            <a:ext cx="2965665" cy="2154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5535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78316-B59E-83F0-F276-CEFFD1674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5180" y="545123"/>
            <a:ext cx="10018713" cy="175259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latin typeface="Bookman Old Style" panose="02050604050505020204" pitchFamily="18" charset="0"/>
                <a:ea typeface="DM Sans Bold"/>
                <a:cs typeface="DM Sans Bold"/>
                <a:sym typeface="DM Sans Bold"/>
              </a:rPr>
              <a:t>EXPLORATORY DATA ANALYSIS(EDA)</a:t>
            </a:r>
            <a:br>
              <a:rPr lang="en-US" b="1" dirty="0">
                <a:latin typeface="DM Sans Bold"/>
                <a:ea typeface="DM Sans Bold"/>
                <a:cs typeface="DM Sans Bold"/>
                <a:sym typeface="DM Sans Bold"/>
              </a:rPr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FB2D7E-2CCA-A094-63F8-099DF7E0F2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Exploratory Data Analysis is used to understand the structure, patterns, and trends in the cleaned dataset before advanced analysis and visualization.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Analysis Performed: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Summary statistics of price, rating, and reviews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Distribution analysis of product prices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Rating-wise and category-wise comparison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Relationship between price and customer ratings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Identification of outliers and trends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224247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78D81-6147-CF6E-9916-0E50CCD6E7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4312" y="413238"/>
            <a:ext cx="10018713" cy="1752599"/>
          </a:xfrm>
        </p:spPr>
        <p:txBody>
          <a:bodyPr>
            <a:normAutofit fontScale="90000"/>
          </a:bodyPr>
          <a:lstStyle/>
          <a:p>
            <a:br>
              <a:rPr 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DM Sans Bold"/>
                <a:cs typeface="Times New Roman" panose="02020603050405020304" pitchFamily="18" charset="0"/>
                <a:sym typeface="DM Sans Bold"/>
              </a:rPr>
            </a:br>
            <a:r>
              <a:rPr 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DM Sans Bold"/>
                <a:cs typeface="Times New Roman" panose="02020603050405020304" pitchFamily="18" charset="0"/>
                <a:sym typeface="DM Sans Bold"/>
              </a:rPr>
              <a:t>PRICE DISTRIBUTION</a:t>
            </a:r>
            <a:br>
              <a:rPr 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DM Sans Bold"/>
                <a:cs typeface="Times New Roman" panose="02020603050405020304" pitchFamily="18" charset="0"/>
                <a:sym typeface="DM Sans Bold"/>
              </a:rPr>
            </a:b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1ED0EA-A942-4A60-76C0-71FB70BECF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1842" y="1900152"/>
            <a:ext cx="7788315" cy="3673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18953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4844E-D80A-AA50-E2B5-2A8AE651C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4309" y="190501"/>
            <a:ext cx="10018713" cy="876300"/>
          </a:xfrm>
        </p:spPr>
        <p:txBody>
          <a:bodyPr>
            <a:normAutofit fontScale="90000"/>
          </a:bodyPr>
          <a:lstStyle/>
          <a:p>
            <a:br>
              <a:rPr 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DM Sans Bold"/>
                <a:cs typeface="Times New Roman" panose="02020603050405020304" pitchFamily="18" charset="0"/>
                <a:sym typeface="DM Sans Bold"/>
              </a:rPr>
            </a:br>
            <a:r>
              <a:rPr 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DM Sans Bold"/>
                <a:cs typeface="Times New Roman" panose="02020603050405020304" pitchFamily="18" charset="0"/>
                <a:sym typeface="DM Sans Bold"/>
              </a:rPr>
              <a:t>CORRELATION HEATMAP</a:t>
            </a:r>
            <a:br>
              <a:rPr 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DM Sans Bold"/>
                <a:cs typeface="Times New Roman" panose="02020603050405020304" pitchFamily="18" charset="0"/>
                <a:sym typeface="DM Sans Bold"/>
              </a:rPr>
            </a:b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9C2DD8-D862-41CA-5B59-AD3707BA8D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326" y="1542886"/>
            <a:ext cx="8169348" cy="4734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92862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4D0A677-F4FB-3D94-B41B-EAC79FAE8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6730" y="1351493"/>
            <a:ext cx="6950529" cy="483829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27944E9-872D-3655-95E1-6BCB46EDCEF4}"/>
              </a:ext>
            </a:extLst>
          </p:cNvPr>
          <p:cNvSpPr txBox="1"/>
          <p:nvPr/>
        </p:nvSpPr>
        <p:spPr>
          <a:xfrm>
            <a:off x="1617785" y="263769"/>
            <a:ext cx="90912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PRICE DISTRIBUTION WITH OUTLIERS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10542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38DFCD-C0DB-410A-362F-F35A704554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4309" y="87923"/>
            <a:ext cx="10018713" cy="1752599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METHOD USED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7EA43-5E5E-FA60-301D-B0BBFCB6EB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4308" y="1708638"/>
            <a:ext cx="10018713" cy="3124201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Method Used: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Store cleaned data into MySQL database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 tables for product details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Insert records using Python database connectors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Ensure data integrity and consistency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023111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418FA-5978-1B6E-9092-1EA1E1CE1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4311" y="685801"/>
            <a:ext cx="10018713" cy="952500"/>
          </a:xfrm>
        </p:spPr>
        <p:txBody>
          <a:bodyPr>
            <a:normAutofit/>
          </a:bodyPr>
          <a:lstStyle/>
          <a:p>
            <a:r>
              <a:rPr lang="en-US" b="1" dirty="0">
                <a:latin typeface="Times New Roman" panose="02020603050405020304" pitchFamily="18" charset="0"/>
                <a:ea typeface="DM Sans Bold"/>
                <a:cs typeface="Times New Roman" panose="02020603050405020304" pitchFamily="18" charset="0"/>
                <a:sym typeface="DM Sans Bold"/>
              </a:rPr>
              <a:t>UNSUPERVISED LEARNING (Clustering)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A96852-287D-09C5-FEE1-BE7B826687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4311" y="2095499"/>
            <a:ext cx="10018713" cy="3124201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Unsupervised learning is a type of machine learning where the model learns patterns from data without labeled outputs. It helps in discovering hidden structures, relationships, and groupings in datasets.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Unsupervised learning = Machine learning without labeled output.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model tries to find patterns, groups, or structure in data by itself.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46260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758C66C-56C7-1A61-D944-D7AD4B021B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2529" y="1066800"/>
            <a:ext cx="7028473" cy="4299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76916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CF364-FB3E-E750-95CA-E63EA99D6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SUPERVISED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840BB7-1AD3-50B5-E13F-D508C0378C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556932"/>
            <a:ext cx="9601196" cy="3779700"/>
          </a:xfrm>
        </p:spPr>
        <p:txBody>
          <a:bodyPr>
            <a:noAutofit/>
          </a:bodyPr>
          <a:lstStyle/>
          <a:p>
            <a:pPr marL="0" indent="0" algn="just">
              <a:lnSpc>
                <a:spcPts val="5683"/>
              </a:lnSpc>
              <a:buNone/>
            </a:pPr>
            <a:r>
              <a:rPr lang="en-US" sz="1600" dirty="0">
                <a:latin typeface="Times New Roman" panose="02020603050405020304" pitchFamily="18" charset="0"/>
                <a:ea typeface="DM Sans"/>
                <a:cs typeface="Times New Roman" panose="02020603050405020304" pitchFamily="18" charset="0"/>
                <a:sym typeface="DM Sans"/>
              </a:rPr>
              <a:t>Multiple classification models were implemented to predict product categories or label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US" sz="1600" b="1" dirty="0">
                <a:latin typeface="Times New Roman" panose="02020603050405020304" pitchFamily="18" charset="0"/>
                <a:ea typeface="DM Sans Bold"/>
                <a:cs typeface="Times New Roman" panose="02020603050405020304" pitchFamily="18" charset="0"/>
                <a:sym typeface="DM Sans Bold"/>
              </a:rPr>
              <a:t>Models Use</a:t>
            </a:r>
          </a:p>
          <a:p>
            <a:pPr marL="1057905" lvl="1" indent="-528952" algn="just">
              <a:lnSpc>
                <a:spcPct val="150000"/>
              </a:lnSpc>
            </a:pPr>
            <a:r>
              <a:rPr lang="en-US" sz="1600" dirty="0">
                <a:latin typeface="Times New Roman" panose="02020603050405020304" pitchFamily="18" charset="0"/>
                <a:ea typeface="DM Sans"/>
                <a:cs typeface="Times New Roman" panose="02020603050405020304" pitchFamily="18" charset="0"/>
                <a:sym typeface="DM Sans"/>
              </a:rPr>
              <a:t>Logistic Regression</a:t>
            </a:r>
          </a:p>
          <a:p>
            <a:pPr marL="1057905" lvl="1" indent="-528952" algn="just">
              <a:lnSpc>
                <a:spcPct val="150000"/>
              </a:lnSpc>
            </a:pPr>
            <a:r>
              <a:rPr lang="en-US" sz="1600" dirty="0">
                <a:latin typeface="Times New Roman" panose="02020603050405020304" pitchFamily="18" charset="0"/>
                <a:ea typeface="DM Sans"/>
                <a:cs typeface="Times New Roman" panose="02020603050405020304" pitchFamily="18" charset="0"/>
                <a:sym typeface="DM Sans"/>
              </a:rPr>
              <a:t>Support Vector Machine (SVM)</a:t>
            </a:r>
          </a:p>
          <a:p>
            <a:pPr marL="1057905" lvl="1" indent="-528952" algn="just">
              <a:lnSpc>
                <a:spcPct val="150000"/>
              </a:lnSpc>
            </a:pPr>
            <a:r>
              <a:rPr lang="en-US" sz="1600" dirty="0">
                <a:latin typeface="Times New Roman" panose="02020603050405020304" pitchFamily="18" charset="0"/>
                <a:ea typeface="DM Sans"/>
                <a:cs typeface="Times New Roman" panose="02020603050405020304" pitchFamily="18" charset="0"/>
                <a:sym typeface="DM Sans"/>
              </a:rPr>
              <a:t>k-Nearest Neighbors (k-NN)</a:t>
            </a:r>
          </a:p>
          <a:p>
            <a:pPr marL="1057905" lvl="1" indent="-528952" algn="just">
              <a:lnSpc>
                <a:spcPct val="150000"/>
              </a:lnSpc>
            </a:pPr>
            <a:r>
              <a:rPr lang="en-US" sz="1600" dirty="0">
                <a:latin typeface="Times New Roman" panose="02020603050405020304" pitchFamily="18" charset="0"/>
                <a:ea typeface="DM Sans"/>
                <a:cs typeface="Times New Roman" panose="02020603050405020304" pitchFamily="18" charset="0"/>
                <a:sym typeface="DM Sans"/>
              </a:rPr>
              <a:t>Random Forest</a:t>
            </a:r>
          </a:p>
          <a:p>
            <a:pPr marL="1057905" lvl="1" indent="-528952" algn="just">
              <a:lnSpc>
                <a:spcPct val="150000"/>
              </a:lnSpc>
            </a:pPr>
            <a:r>
              <a:rPr lang="en-US" sz="1600" dirty="0" err="1">
                <a:latin typeface="Times New Roman" panose="02020603050405020304" pitchFamily="18" charset="0"/>
                <a:ea typeface="DM Sans"/>
                <a:cs typeface="Times New Roman" panose="02020603050405020304" pitchFamily="18" charset="0"/>
                <a:sym typeface="DM Sans"/>
              </a:rPr>
              <a:t>XGBoost</a:t>
            </a:r>
            <a:endParaRPr lang="en-US" sz="1600" dirty="0">
              <a:latin typeface="Times New Roman" panose="02020603050405020304" pitchFamily="18" charset="0"/>
              <a:ea typeface="DM Sans"/>
              <a:cs typeface="Times New Roman" panose="02020603050405020304" pitchFamily="18" charset="0"/>
              <a:sym typeface="DM Sans"/>
            </a:endParaRPr>
          </a:p>
          <a:p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41154524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92B6F-CE7C-EA04-587F-1D5A229D2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4311" y="257372"/>
            <a:ext cx="10018713" cy="729762"/>
          </a:xfrm>
        </p:spPr>
        <p:txBody>
          <a:bodyPr/>
          <a:lstStyle/>
          <a:p>
            <a:r>
              <a:rPr lang="en-IN" b="1" dirty="0">
                <a:latin typeface="Bookman Old Style" panose="02050604050505020204" pitchFamily="18" charset="0"/>
              </a:rPr>
              <a:t>INSIGHTS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7298D5E-0F4B-DC8C-5A9A-DCF44E12286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484311" y="1298303"/>
            <a:ext cx="9893708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accent1">
                  <a:lumMod val="60000"/>
                  <a:lumOff val="40000"/>
                </a:schemeClr>
              </a:buClr>
              <a:buSzTx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Higher-rated products generally receive more customer reviews, indicating higher customer trust and popularity.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accent1">
                  <a:lumMod val="60000"/>
                  <a:lumOff val="40000"/>
                </a:schemeClr>
              </a:buClr>
              <a:buSzTx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Mid-range priced products tend to have the highest number of reviews, showing strong customer demand in this price segment.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accent1">
                  <a:lumMod val="60000"/>
                  <a:lumOff val="40000"/>
                </a:schemeClr>
              </a:buClr>
              <a:buSzTx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Some high-priced products have fewer reviews, suggesting niche or premium market targeting.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accent1">
                  <a:lumMod val="60000"/>
                  <a:lumOff val="40000"/>
                </a:schemeClr>
              </a:buClr>
              <a:buSzTx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Certain categories show wide price variation, indicating diverse product options within the same category.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accent1">
                  <a:lumMod val="60000"/>
                  <a:lumOff val="40000"/>
                </a:schemeClr>
              </a:buClr>
              <a:buSzTx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Products with consistent ratings above 4.0 tend to perform better in customer engagement.</a:t>
            </a:r>
          </a:p>
        </p:txBody>
      </p:sp>
    </p:spTree>
    <p:extLst>
      <p:ext uri="{BB962C8B-B14F-4D97-AF65-F5344CB8AC3E}">
        <p14:creationId xmlns:p14="http://schemas.microsoft.com/office/powerpoint/2010/main" val="9978073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3697C-ADC5-1DC2-8115-31976939D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7065" y="0"/>
            <a:ext cx="10018713" cy="1274233"/>
          </a:xfrm>
        </p:spPr>
        <p:txBody>
          <a:bodyPr>
            <a:normAutofit fontScale="90000"/>
          </a:bodyPr>
          <a:lstStyle/>
          <a:p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4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RECOMMENDATIONS</a:t>
            </a:r>
            <a:b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764F766-0864-CBAF-8529-F5EBB990F63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537065" y="1815809"/>
            <a:ext cx="9379974" cy="3046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Focus on stocking and promoting mid-range priced products, as they attract more customers.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Highlight high-rated products in marketing campaigns to increase sales conversion.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Improve low-rated products by analyzing customer review feedback.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Maintain competitive pricing strategy based on category price trends.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 customer review insights to improve product quality and customer satisfaction.</a:t>
            </a:r>
          </a:p>
        </p:txBody>
      </p:sp>
    </p:spTree>
    <p:extLst>
      <p:ext uri="{BB962C8B-B14F-4D97-AF65-F5344CB8AC3E}">
        <p14:creationId xmlns:p14="http://schemas.microsoft.com/office/powerpoint/2010/main" val="25056305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FC2ED-4A7C-1175-100A-A6927D57FF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2369" y="1239392"/>
            <a:ext cx="8574622" cy="2616199"/>
          </a:xfrm>
        </p:spPr>
        <p:txBody>
          <a:bodyPr/>
          <a:lstStyle/>
          <a:p>
            <a:r>
              <a:rPr lang="en-IN" b="1" dirty="0">
                <a:latin typeface="Bookman Old Style" panose="02050604050505020204" pitchFamily="18" charset="0"/>
              </a:rPr>
              <a:t>THANK YOU</a:t>
            </a:r>
            <a:r>
              <a:rPr lang="en-IN" dirty="0">
                <a:latin typeface="Bookman Old Style" panose="02050604050505020204" pitchFamily="18" charset="0"/>
              </a:rPr>
              <a:t> 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E3C242B-C3A7-C0D0-8AEE-B1C9542FA0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0494688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TM03457496[[fn=Parallax]]</Template>
  <TotalTime>98</TotalTime>
  <Words>550</Words>
  <Application>Microsoft Office PowerPoint</Application>
  <PresentationFormat>Widescreen</PresentationFormat>
  <Paragraphs>62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Bookman Old Style</vt:lpstr>
      <vt:lpstr>Corbel</vt:lpstr>
      <vt:lpstr>DM Sans Bold</vt:lpstr>
      <vt:lpstr>Times New Roman</vt:lpstr>
      <vt:lpstr>Parallax</vt:lpstr>
      <vt:lpstr>WEB SCRAPING  IN </vt:lpstr>
      <vt:lpstr> PROJECT OVERVIEW </vt:lpstr>
      <vt:lpstr> PROBLEM STATEMENT </vt:lpstr>
      <vt:lpstr> DATA COLLECTION BY WEB SCRAPING </vt:lpstr>
      <vt:lpstr>TOOLS USED</vt:lpstr>
      <vt:lpstr> DATA CLEANING </vt:lpstr>
      <vt:lpstr>EXPLORATORY DATA ANALYSIS(EDA) </vt:lpstr>
      <vt:lpstr> PRICE DISTRIBUTION </vt:lpstr>
      <vt:lpstr> CORRELATION HEATMAP </vt:lpstr>
      <vt:lpstr>PowerPoint Presentation</vt:lpstr>
      <vt:lpstr>STORAGE METHOD USED</vt:lpstr>
      <vt:lpstr>UNSUPERVISED LEARNING (Clustering)</vt:lpstr>
      <vt:lpstr>PowerPoint Presentation</vt:lpstr>
      <vt:lpstr>SUPERVISED LEARNING</vt:lpstr>
      <vt:lpstr>INSIGHTS</vt:lpstr>
      <vt:lpstr>  RECOMMENDATIONS </vt:lpstr>
      <vt:lpstr>THANK YOU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Kalvin Jayaprakash J</dc:creator>
  <cp:lastModifiedBy>Arunkumar A</cp:lastModifiedBy>
  <cp:revision>4</cp:revision>
  <dcterms:created xsi:type="dcterms:W3CDTF">2026-01-29T14:10:16Z</dcterms:created>
  <dcterms:modified xsi:type="dcterms:W3CDTF">2026-02-01T09:18:49Z</dcterms:modified>
</cp:coreProperties>
</file>